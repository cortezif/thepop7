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0E17"/>
          </a:solidFill>
          <a:ln/>
        </p:spPr>
      </p:sp>
      <p:sp>
        <p:nvSpPr>
          <p:cNvPr id="3" name="Shape 1"/>
          <p:cNvSpPr/>
          <p:nvPr/>
        </p:nvSpPr>
        <p:spPr>
          <a:xfrm>
            <a:off x="1783080" y="1417320"/>
            <a:ext cx="1554480" cy="155448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80594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971800"/>
            <a:ext cx="1097280" cy="109728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46120"/>
            <a:ext cx="548640" cy="548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0" y="2971800"/>
            <a:ext cx="1097280" cy="10972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246120"/>
            <a:ext cx="548640" cy="54864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371600" y="4526280"/>
            <a:ext cx="914400" cy="9144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754880"/>
            <a:ext cx="457200" cy="4572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2834640" y="4526280"/>
            <a:ext cx="914400" cy="91440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4754880"/>
            <a:ext cx="457200" cy="457200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2560320" y="2194560"/>
            <a:ext cx="-1143000" cy="132588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2560320" y="2194560"/>
            <a:ext cx="1188720" cy="132588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1417320" y="3520440"/>
            <a:ext cx="411480" cy="146304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3749040" y="3520440"/>
            <a:ext cx="-457200" cy="146304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5669280" y="731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 7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669280" y="146304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Comércio</a:t>
            </a:r>
            <a:endParaRPr lang="en-US" sz="6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4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Autônomo</a:t>
            </a:r>
            <a:endParaRPr lang="en-US" sz="6400" dirty="0"/>
          </a:p>
        </p:txBody>
      </p:sp>
      <p:sp>
        <p:nvSpPr>
          <p:cNvPr id="19" name="Shape 12"/>
          <p:cNvSpPr/>
          <p:nvPr/>
        </p:nvSpPr>
        <p:spPr>
          <a:xfrm>
            <a:off x="5669280" y="50749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3"/>
          <p:cNvSpPr/>
          <p:nvPr/>
        </p:nvSpPr>
        <p:spPr>
          <a:xfrm>
            <a:off x="5669280" y="5303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 módulos. Operação 24 / 7.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geral em onze páginas.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00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 módulos. Um cérebro.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2529688" y="2743200"/>
            <a:ext cx="7132320" cy="2926080"/>
          </a:xfrm>
          <a:prstGeom prst="ellipse">
            <a:avLst/>
          </a:prstGeom>
          <a:ln w="12700">
            <a:solidFill>
              <a:srgbClr val="D6CFC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364328" y="3474720"/>
            <a:ext cx="1463040" cy="1463040"/>
          </a:xfrm>
          <a:prstGeom prst="ellipse">
            <a:avLst/>
          </a:prstGeom>
          <a:solidFill>
            <a:srgbClr val="0F0E17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38404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81448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95848" y="4206240"/>
            <a:ext cx="0" cy="-1371600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1508" y="2400300"/>
            <a:ext cx="868680" cy="86868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678" y="261747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1448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181448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Atendimento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95848" y="4206240"/>
            <a:ext cx="2233507" cy="-1050707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95015" y="2721193"/>
            <a:ext cx="868680" cy="8686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85" y="2938363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0884" y="2148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090884" y="2349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095848" y="4206240"/>
            <a:ext cx="3421931" cy="-238176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83439" y="3533724"/>
            <a:ext cx="868680" cy="86868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0609" y="3750894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38963" y="358429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638963" y="378546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Pedido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095848" y="4206240"/>
            <a:ext cx="3009196" cy="685800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70703" y="4457700"/>
            <a:ext cx="868680" cy="86868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873" y="4674870"/>
            <a:ext cx="434340" cy="4343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01321" y="52166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9101321" y="54178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Logística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095848" y="4206240"/>
            <a:ext cx="1188424" cy="1288882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849932" y="5060782"/>
            <a:ext cx="868680" cy="86868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102" y="5277952"/>
            <a:ext cx="434340" cy="4343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9527" y="628209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6729527" y="648326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Pós-venda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095848" y="4206240"/>
            <a:ext cx="-1188424" cy="1288882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473083" y="5060782"/>
            <a:ext cx="868680" cy="86868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253" y="5277952"/>
            <a:ext cx="434340" cy="4343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633369" y="628209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3633369" y="648326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Compras</a:t>
            </a:r>
            <a:endParaRPr lang="en-US" sz="1300" dirty="0"/>
          </a:p>
        </p:txBody>
      </p:sp>
      <p:sp>
        <p:nvSpPr>
          <p:cNvPr id="39" name="Shape 30"/>
          <p:cNvSpPr/>
          <p:nvPr/>
        </p:nvSpPr>
        <p:spPr>
          <a:xfrm>
            <a:off x="6095848" y="4206240"/>
            <a:ext cx="-3009196" cy="685800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2652312" y="4457700"/>
            <a:ext cx="868680" cy="8686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9482" y="4674870"/>
            <a:ext cx="434340" cy="4343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261574" y="52166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261574" y="54178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Mídia paga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6095848" y="4206240"/>
            <a:ext cx="-3421931" cy="-238176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2239576" y="3533724"/>
            <a:ext cx="868680" cy="8686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746" y="3750894"/>
            <a:ext cx="434340" cy="43434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23932" y="358429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8" name="Text 37"/>
          <p:cNvSpPr/>
          <p:nvPr/>
        </p:nvSpPr>
        <p:spPr>
          <a:xfrm>
            <a:off x="723932" y="3785463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</a:t>
            </a:r>
            <a:endParaRPr lang="en-US" sz="1300" dirty="0"/>
          </a:p>
        </p:txBody>
      </p:sp>
      <p:sp>
        <p:nvSpPr>
          <p:cNvPr id="49" name="Shape 38"/>
          <p:cNvSpPr/>
          <p:nvPr/>
        </p:nvSpPr>
        <p:spPr>
          <a:xfrm>
            <a:off x="6095848" y="4206240"/>
            <a:ext cx="-2233507" cy="-1050707"/>
          </a:xfrm>
          <a:prstGeom prst="line">
            <a:avLst/>
          </a:prstGeom>
          <a:noFill/>
          <a:ln w="12700">
            <a:solidFill>
              <a:srgbClr val="D6CFC4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3428001" y="2721193"/>
            <a:ext cx="868680" cy="86868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5171" y="2938363"/>
            <a:ext cx="434340" cy="43434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2272011" y="2148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3" name="Text 41"/>
          <p:cNvSpPr/>
          <p:nvPr/>
        </p:nvSpPr>
        <p:spPr>
          <a:xfrm>
            <a:off x="2272011" y="2349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 B2B</a:t>
            </a:r>
            <a:endParaRPr lang="en-US" sz="1300" dirty="0"/>
          </a:p>
        </p:txBody>
      </p:sp>
      <p:sp>
        <p:nvSpPr>
          <p:cNvPr id="54" name="Text 42"/>
          <p:cNvSpPr/>
          <p:nvPr/>
        </p:nvSpPr>
        <p:spPr>
          <a:xfrm>
            <a:off x="108200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01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5D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Vendedora 24 / 7.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e Instagram, com IA que lembra cada cliente.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fala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0F0E17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entende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tudo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humana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persistente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Medidas, estilo, ocasião, cores, restrições. A próxima conversa começa personalizada.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Cross-canal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Instagram com mesmo histórico, mesma cliente.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com dado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estoque, frete e perfil consultados em tempo real.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02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 que se vende.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Atributos enriquecidos viram recomendação certeira.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do ERP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enriquece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semântica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certa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Medidas reais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Busto, cintura, quadril por tamanho. Cliente compra o que serve.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Estilo e ocasião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Moderno, festa, evangélico, fitness, igreja. Decote, transparência, comprimento.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e giro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adequação considera o que vende, o que dá lucro e o que está parado.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&amp; PAGAMENTO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03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interesse ao pago.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Reserva, PIX e NFe — sem sair da conversa.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15min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0F0E17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no chat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 emitida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Estoque transacional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por conversa. Nunca vende duas vezes a mesma peça.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Pagamento no canal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PIX, link de cartão e boleto entregues direto no chat.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automático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 emitida no momento da venda. Sem você lançar nada.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&amp; ENTREGA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04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5B4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etiqueta à porta.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sabe onde está o pedido. Sempre.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trânsito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Saiu para entrega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Transportadora ideal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escolhe por preço, prazo e histórico. Falhou? Vai pra próxima.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5B4080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Notificação proativa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recebe atualização a cada fase. Sem perguntar.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5B4080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Confirmação completa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hora e quem recebeu. Prazo legal de devolução comunicado.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 &amp; DEVOLUÇÃO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05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Cliente vira fã.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Acompanhamento, NPS e devolução sem dor.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+ 1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+ 7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+ 14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+ 30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Toques proativos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Boas-vindas, prazo, NPS, recompra. Tudo agendado por evento de entrega.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Devolução guiada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de RMA: solicitação, etiqueta reversa, análise, reembolso.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Reativação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parada recebe oferta personalizada com base no perfil.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&amp; FORNECEDORES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06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IA compra por você.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Reposição preditiva, cotação automática, PIX pago.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com 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Ranqueia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0F0E17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PIX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Antecipa o pedido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× lead time = ponto ótimo. Dispara antes de faltar.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Cotação multi-canal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 WhatsApp. Lê resposta em texto, foto de tabela ou áudio.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B85042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Fechamento e PIX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 até o limite, paga, envia comprovante, acompanha envio.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PAGA (META ADS)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07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Anúncio que se otimiza.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Cria, segmenta e mede com seus próprios dados.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EC4899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criativo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público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 FB + IG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pra Maya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Criativo por IA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imagem e vídeo curto. Variações testadas, vencedoras escaladas.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Públicos do seu CRM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fiéis, ticket alto, lookalike das melhores. Não terceirizado.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Atribuição real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API liga anúncio → conversa → venda. Sem dependência de pixel.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&amp; FINANCEIRO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08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 o mês no painel.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Custo, margem e conciliação em tempo real.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 emitida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0F0E17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real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concilia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opera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 automático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NFe e NFCe a cada venda, via emissor terceiro com cadeia de substitutos.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Margem por venda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do produto, frete, gateway, IA — descontados por pedido.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Conciliação banco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lê extrato. Pix automático paga fornecedor com seu limite.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ATACADO B2B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48495" y="457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MÓD. 09 /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3A85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Seu catálogo vende sozinho.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Outras lojas e agentes IA compram em grosso via MCP.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4340" y="2628900"/>
            <a:ext cx="960120" cy="96012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28689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-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expõe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63040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888638" y="2628900"/>
            <a:ext cx="960120" cy="96012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68" y="2868930"/>
            <a:ext cx="480060" cy="480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7997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MCP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17338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342937" y="2628900"/>
            <a:ext cx="960120" cy="96012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967" y="286893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4277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compram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71637" y="3108960"/>
            <a:ext cx="2357018" cy="0"/>
          </a:xfrm>
          <a:prstGeom prst="line">
            <a:avLst/>
          </a:prstGeom>
          <a:noFill/>
          <a:ln w="19050">
            <a:solidFill>
              <a:srgbClr val="D6CFC4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10797235" y="2628900"/>
            <a:ext cx="960120" cy="9601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2868930"/>
            <a:ext cx="480060" cy="480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88575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emitida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4572000"/>
            <a:ext cx="73152" cy="1828800"/>
          </a:xfrm>
          <a:prstGeom prst="rect">
            <a:avLst/>
          </a:prstGeom>
          <a:solidFill>
            <a:srgbClr val="3A85B0"/>
          </a:solidFill>
          <a:ln/>
        </p:spPr>
      </p:sp>
      <p:sp>
        <p:nvSpPr>
          <p:cNvPr id="24" name="Shape 18"/>
          <p:cNvSpPr/>
          <p:nvPr/>
        </p:nvSpPr>
        <p:spPr>
          <a:xfrm>
            <a:off x="960120" y="4846320"/>
            <a:ext cx="640080" cy="64008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140" y="50063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controla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914400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preço atacado, mínimo de quantidade e região atendida.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353458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53458" y="4572000"/>
            <a:ext cx="73152" cy="1828800"/>
          </a:xfrm>
          <a:prstGeom prst="rect">
            <a:avLst/>
          </a:prstGeom>
          <a:solidFill>
            <a:srgbClr val="3A85B0"/>
          </a:solidFill>
          <a:ln/>
        </p:spPr>
      </p:sp>
      <p:sp>
        <p:nvSpPr>
          <p:cNvPr id="30" name="Shape 23"/>
          <p:cNvSpPr/>
          <p:nvPr/>
        </p:nvSpPr>
        <p:spPr>
          <a:xfrm>
            <a:off x="4673498" y="4846320"/>
            <a:ext cx="640080" cy="64008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518" y="500634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50738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padrão aberto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4627778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 sistemas se conectam, buscam, cotam e compram do seu estoque.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8066837" y="4572000"/>
            <a:ext cx="348477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066837" y="4572000"/>
            <a:ext cx="73152" cy="1828800"/>
          </a:xfrm>
          <a:prstGeom prst="rect">
            <a:avLst/>
          </a:prstGeom>
          <a:solidFill>
            <a:srgbClr val="3A85B0"/>
          </a:solidFill>
          <a:ln/>
        </p:spPr>
      </p:sp>
      <p:sp>
        <p:nvSpPr>
          <p:cNvPr id="36" name="Shape 28"/>
          <p:cNvSpPr/>
          <p:nvPr/>
        </p:nvSpPr>
        <p:spPr>
          <a:xfrm>
            <a:off x="8386877" y="4846320"/>
            <a:ext cx="640080" cy="64008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897" y="500634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164117" y="48463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cruzada</a:t>
            </a:r>
            <a:endParaRPr lang="en-US" sz="2200" dirty="0"/>
          </a:p>
        </p:txBody>
      </p:sp>
      <p:sp>
        <p:nvSpPr>
          <p:cNvPr id="39" name="Text 30"/>
          <p:cNvSpPr/>
          <p:nvPr/>
        </p:nvSpPr>
        <p:spPr>
          <a:xfrm>
            <a:off x="8341157" y="58521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também compra de outros tenants da rede. Mais rápido que importar.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EXTERNAS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905695" y="457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Conectado ao essencial.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07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categoria com cadeia de substitutos automática.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8544" y="2788920"/>
            <a:ext cx="640080" cy="640080"/>
          </a:xfrm>
          <a:prstGeom prst="ellipse">
            <a:avLst/>
          </a:prstGeom>
          <a:solidFill>
            <a:srgbClr val="25D36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564" y="29489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520440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Canais Meta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849624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 ·  Instagram Graph API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8256" y="2606040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6720" y="278892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740" y="29489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9696" y="3520440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Mídia Meta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55416" y="3849624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API  ·  Conversions API  ·  Commerce Catalog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96432" y="2606040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64896" y="2788920"/>
            <a:ext cx="640080" cy="640080"/>
          </a:xfrm>
          <a:prstGeom prst="ellipse">
            <a:avLst/>
          </a:prstGeom>
          <a:solidFill>
            <a:srgbClr val="6D2E46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916" y="29489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87872" y="3520440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333592" y="3849624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Bling  ·  Tray  ·  Nuvemshop  ·  Tiny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974607" y="2606040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43071" y="2788920"/>
            <a:ext cx="640080" cy="640080"/>
          </a:xfrm>
          <a:prstGeom prst="ellipse">
            <a:avLst/>
          </a:prstGeom>
          <a:solidFill>
            <a:srgbClr val="5B408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3091" y="29489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66047" y="3520440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111767" y="3849624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Envio  ·  Frete Rápido  ·  Kangu  ·  Loggi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40080" y="4590288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608544" y="4773168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564" y="4933188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" y="5504688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Pagamento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777240" y="5833872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  ·  PagBank  ·  Asaas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418256" y="4590288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386720" y="4773168"/>
            <a:ext cx="640080" cy="640080"/>
          </a:xfrm>
          <a:prstGeom prst="ellipse">
            <a:avLst/>
          </a:prstGeom>
          <a:solidFill>
            <a:srgbClr val="3A85B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6740" y="4933188"/>
            <a:ext cx="320040" cy="3200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09696" y="5504688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3555416" y="5833872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PlugNotas  ·  Focus NFe  ·  eNotas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196432" y="4590288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164896" y="4773168"/>
            <a:ext cx="640080" cy="640080"/>
          </a:xfrm>
          <a:prstGeom prst="ellipse">
            <a:avLst/>
          </a:prstGeom>
          <a:solidFill>
            <a:srgbClr val="0F0E17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916" y="4933188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287872" y="5504688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</a:t>
            </a:r>
            <a:endParaRPr lang="en-US" sz="1600" dirty="0"/>
          </a:p>
        </p:txBody>
      </p:sp>
      <p:sp>
        <p:nvSpPr>
          <p:cNvPr id="40" name="Text 31"/>
          <p:cNvSpPr/>
          <p:nvPr/>
        </p:nvSpPr>
        <p:spPr>
          <a:xfrm>
            <a:off x="6333592" y="5833872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  ·  APIs bancárias  ·  Pix Automático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8974607" y="4590288"/>
            <a:ext cx="257700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943071" y="4773168"/>
            <a:ext cx="640080" cy="640080"/>
          </a:xfrm>
          <a:prstGeom prst="ellipse">
            <a:avLst/>
          </a:prstGeom>
          <a:solidFill>
            <a:srgbClr val="E94560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3091" y="4933188"/>
            <a:ext cx="320040" cy="32004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66047" y="5504688"/>
            <a:ext cx="239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Inteligência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9111767" y="5833872"/>
            <a:ext cx="230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 ·  Modelos de imagem  ·  Embeddings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2026-05-28T00:38:30Z</dcterms:created>
  <dcterms:modified xsi:type="dcterms:W3CDTF">2026-05-28T00:38:30Z</dcterms:modified>
</cp:coreProperties>
</file>